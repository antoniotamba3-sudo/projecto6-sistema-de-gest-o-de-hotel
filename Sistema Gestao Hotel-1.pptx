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57" r:id="rId4"/>
    <p:sldId id="265" r:id="rId5"/>
    <p:sldId id="258" r:id="rId6"/>
    <p:sldId id="260" r:id="rId7"/>
    <p:sldId id="261" r:id="rId8"/>
    <p:sldId id="266" r:id="rId9"/>
    <p:sldId id="267" r:id="rId10"/>
    <p:sldId id="262" r:id="rId11"/>
    <p:sldId id="263" r:id="rId12"/>
    <p:sldId id="26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3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5696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527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162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7390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2286000" cy="1943100"/>
          </a:xfrm>
          <a:prstGeom prst="rect">
            <a:avLst/>
          </a:prstGeom>
          <a:solidFill>
            <a:srgbClr val="0F2044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34272" y="3200400"/>
            <a:ext cx="109728" cy="19431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KIMPAVITA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Politécnico · Eng. Informática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kern="0" spc="100" dirty="0">
                <a:solidFill>
                  <a:srgbClr val="FFFFFF"/>
                </a:solidFill>
                <a:latin typeface="Bodoni MT Black" panose="02070A03080606020203" pitchFamily="18" charset="0"/>
                <a:ea typeface="Calibri" pitchFamily="34" charset="-122"/>
                <a:cs typeface="Calibri" pitchFamily="34" charset="-120"/>
              </a:rPr>
              <a:t>SISTEMA DE</a:t>
            </a:r>
            <a:endParaRPr lang="en-US" sz="4600" dirty="0">
              <a:latin typeface="Bodoni MT Black" panose="02070A03080606020203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kern="0" spc="100" dirty="0">
                <a:solidFill>
                  <a:srgbClr val="00A8E8"/>
                </a:solidFill>
                <a:latin typeface="Bodoni MT Black" panose="02070A03080606020203" pitchFamily="18" charset="0"/>
                <a:ea typeface="Calibri" pitchFamily="34" charset="-122"/>
                <a:cs typeface="Calibri" pitchFamily="34" charset="-120"/>
              </a:rPr>
              <a:t>GESTÃO DE HOTEL</a:t>
            </a:r>
            <a:endParaRPr lang="en-US" sz="4600" dirty="0">
              <a:latin typeface="Bodoni MT Black" panose="02070A03080606020203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3200400" cy="36576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97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 de Programação Orientada a Objectos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3º Ano  |  Período: Manhã  |  Turma: Pavilhão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António Lopes Tamba · Lukombo David · Nguinamau Vita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977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Uige, Maio de 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49440" y="3337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0" y="3703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ESTRELAS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49440" y="4023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SYSTEM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Bodoni MT Black" panose="02070A03080606020203" pitchFamily="18" charset="0"/>
                <a:ea typeface="Calibri" pitchFamily="34" charset="-122"/>
                <a:cs typeface="Calibri" pitchFamily="34" charset="-120"/>
              </a:rPr>
              <a:t>EQUIPA DO PROJECTO</a:t>
            </a:r>
            <a:endParaRPr lang="en-US" sz="2800" dirty="0">
              <a:latin typeface="Bodoni MT Black" panose="02070A030806060202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de responsabilidades entre os membros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10515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280160"/>
            <a:ext cx="685800" cy="685800"/>
          </a:xfrm>
          <a:prstGeom prst="ellipse">
            <a:avLst/>
          </a:prstGeom>
          <a:solidFill>
            <a:srgbClr val="00A8E8">
              <a:alpha val="20000"/>
            </a:srgbClr>
          </a:solidFill>
          <a:ln w="25400">
            <a:solidFill>
              <a:srgbClr val="00A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80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11704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António Lopes Tamba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15544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17663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1810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UML + Relatório Técnico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0" y="1444752"/>
            <a:ext cx="1645920" cy="347472"/>
          </a:xfrm>
          <a:prstGeom prst="rect">
            <a:avLst/>
          </a:prstGeom>
          <a:solidFill>
            <a:srgbClr val="00A8E8">
              <a:alpha val="30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4447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8229600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31720"/>
            <a:ext cx="73152" cy="10515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514600"/>
            <a:ext cx="685800" cy="685800"/>
          </a:xfrm>
          <a:prstGeom prst="ellipse">
            <a:avLst/>
          </a:prstGeom>
          <a:solidFill>
            <a:srgbClr val="FFB703">
              <a:alpha val="20000"/>
            </a:srgbClr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514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24048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Lukombo David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2788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17713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08760" y="30449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do Código (C#)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0" y="2679192"/>
            <a:ext cx="1645920" cy="347472"/>
          </a:xfrm>
          <a:prstGeom prst="rect">
            <a:avLst/>
          </a:prstGeom>
          <a:solidFill>
            <a:srgbClr val="FFB703">
              <a:alpha val="3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26791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8229600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566160"/>
            <a:ext cx="73152" cy="10515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749040"/>
            <a:ext cx="685800" cy="685800"/>
          </a:xfrm>
          <a:prstGeom prst="ellipse">
            <a:avLst/>
          </a:prstGeom>
          <a:solidFill>
            <a:srgbClr val="06D6A0">
              <a:alpha val="20000"/>
            </a:srgbClr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749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508760" y="363931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Nguinamau Vita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08760" y="40233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17733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08760" y="42793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do Código (C#)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858000" y="3913632"/>
            <a:ext cx="1645920" cy="347472"/>
          </a:xfrm>
          <a:prstGeom prst="rect">
            <a:avLst/>
          </a:prstGeom>
          <a:solidFill>
            <a:srgbClr val="06D6A0">
              <a:alpha val="3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39136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kern="0" spc="400" dirty="0">
                <a:solidFill>
                  <a:srgbClr val="FFFFFF"/>
                </a:solidFill>
                <a:latin typeface="Bodoni MT Black" panose="02070A03080606020203" pitchFamily="18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3200" dirty="0">
              <a:latin typeface="Bodoni MT Black" panose="02070A030806060202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da Apresentação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502920" cy="822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075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188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&amp; Objectivos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5636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projecto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402336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40280"/>
            <a:ext cx="502920" cy="822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048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286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 do Projecto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6609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de tarefas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402336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37560"/>
            <a:ext cx="502920" cy="822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021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383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UML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7581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classes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143000"/>
            <a:ext cx="402336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143000"/>
            <a:ext cx="502920" cy="822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3075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9240" y="1188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15636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implementados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240280"/>
            <a:ext cx="402336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240280"/>
            <a:ext cx="502920" cy="822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4048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49240" y="22860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Sistema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49240" y="26609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Modelos, serviços e enums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337560"/>
            <a:ext cx="4023360" cy="82296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337560"/>
            <a:ext cx="502920" cy="822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5021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49240" y="3383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 &amp; Conclusão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37581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perspectivas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9728" y="0"/>
            <a:ext cx="9034271" cy="514350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2975" y="0"/>
            <a:ext cx="502920" cy="586629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9143" y="73152"/>
            <a:ext cx="8047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 Black" panose="02070A03080606020203" pitchFamily="18" charset="0"/>
                <a:ea typeface="Calibri" pitchFamily="34" charset="-122"/>
                <a:cs typeface="Calibri" pitchFamily="34" charset="-120"/>
              </a:rPr>
              <a:t>Resumo &amp; Objectivos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doni MT Black" panose="02070A03080606020203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19456" y="586629"/>
            <a:ext cx="8814816" cy="1969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pt-PT" dirty="0">
                <a:solidFill>
                  <a:schemeClr val="bg1"/>
                </a:solidFill>
              </a:rPr>
              <a:t>O presente relatório descreve o desenvolvimento de um sistema de gestão de hotel, criado com o objectivo de automatizar processos relacionados à administração de hotéis, permitindo um controlo mais eficiente das informações de clientes, quartos, reservas e estadias. O sistema foi desenvolvido usando a linguagem C#, estruturado com princípios de Programação Orientada a </a:t>
            </a:r>
            <a:r>
              <a:rPr lang="pt-PT" dirty="0" err="1">
                <a:solidFill>
                  <a:schemeClr val="bg1"/>
                </a:solidFill>
              </a:rPr>
              <a:t>Objectos</a:t>
            </a:r>
            <a:r>
              <a:rPr lang="pt-PT" dirty="0">
                <a:solidFill>
                  <a:schemeClr val="bg1"/>
                </a:solidFill>
              </a:rPr>
              <a:t> (POO), garantindo a organização, reutilização e manutenção do código. A implementação busca reduzir erros manuais, aumentar a eficiência operacional e facilitar a gestão das actividades do ramo hoteleira.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9718E4A5-EB5F-4B99-AE47-FCB193F886E3}"/>
              </a:ext>
            </a:extLst>
          </p:cNvPr>
          <p:cNvSpPr txBox="1"/>
          <p:nvPr/>
        </p:nvSpPr>
        <p:spPr>
          <a:xfrm>
            <a:off x="164592" y="3294185"/>
            <a:ext cx="88148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dirty="0">
                <a:solidFill>
                  <a:schemeClr val="bg1"/>
                </a:solidFill>
              </a:rPr>
              <a:t>Com o crescimento do sector da hotelaria, tornou-se necessário </a:t>
            </a:r>
            <a:r>
              <a:rPr lang="pt-PT" dirty="0" err="1">
                <a:solidFill>
                  <a:schemeClr val="bg1"/>
                </a:solidFill>
              </a:rPr>
              <a:t>adoptar</a:t>
            </a:r>
            <a:r>
              <a:rPr lang="pt-PT" dirty="0">
                <a:solidFill>
                  <a:schemeClr val="bg1"/>
                </a:solidFill>
              </a:rPr>
              <a:t> soluções tecnológicas capazes de auxiliar no controlo e administração dos serviços oferecidos aos clientes. Muitos estabelecimentos ainda realizam procedimentos de reservas, gestão de quartos e acompanhamento de hóspedes de forma manual, o que pode provocar atrasos, perda de dados e dificuldades no controlo das informações. </a:t>
            </a:r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41EED03B-2783-4363-80F4-FBBA0EE7B70C}"/>
              </a:ext>
            </a:extLst>
          </p:cNvPr>
          <p:cNvSpPr/>
          <p:nvPr/>
        </p:nvSpPr>
        <p:spPr>
          <a:xfrm>
            <a:off x="840775" y="2656346"/>
            <a:ext cx="8047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 Black" panose="02070A03080606020203" pitchFamily="18" charset="0"/>
                <a:cs typeface="Calibri" pitchFamily="34" charset="-120"/>
              </a:rPr>
              <a:t>INTRODUÇÃO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doni MT Black" panose="02070A03080606020203" pitchFamily="18" charset="0"/>
            </a:endParaRPr>
          </a:p>
        </p:txBody>
      </p:sp>
      <p:sp>
        <p:nvSpPr>
          <p:cNvPr id="37" name="Shape 4">
            <a:extLst>
              <a:ext uri="{FF2B5EF4-FFF2-40B4-BE49-F238E27FC236}">
                <a16:creationId xmlns:a16="http://schemas.microsoft.com/office/drawing/2014/main" id="{3E2A3836-51DD-4EF1-8A36-A5C8E54AA238}"/>
              </a:ext>
            </a:extLst>
          </p:cNvPr>
          <p:cNvSpPr/>
          <p:nvPr/>
        </p:nvSpPr>
        <p:spPr>
          <a:xfrm>
            <a:off x="205740" y="2656346"/>
            <a:ext cx="502920" cy="586629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23992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Bodoni MT Black" panose="02070A03080606020203" pitchFamily="18" charset="0"/>
                <a:ea typeface="Calibri" pitchFamily="34" charset="-122"/>
                <a:cs typeface="Calibri" pitchFamily="34" charset="-120"/>
              </a:rPr>
              <a:t>RESUMO DO PROJECTO</a:t>
            </a:r>
            <a:endParaRPr lang="en-US" sz="2800" dirty="0">
              <a:latin typeface="Bodoni MT Black" panose="02070A030806060202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Objectivos e tecnologias utilizadas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120640" cy="347472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5120640" cy="731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88720"/>
            <a:ext cx="4846320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 Gestão de Hotel foi desenvolvido para automatizar os processos relacionados à administração de hotéis.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controlo eficiente de: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Informações de clientes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Quartos disponíveis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Reservas e check-in/check-out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Estadias e facturação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foi construída em C# utilizando os princípios de Programação Orientada a Objectos (POO), garantindo organização, reutilização e fácil manutenção do código.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52160" y="1051560"/>
            <a:ext cx="283464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1051560"/>
            <a:ext cx="54864" cy="73152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108813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89320" y="14538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1920240"/>
            <a:ext cx="283464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1920240"/>
            <a:ext cx="54864" cy="73152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9568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989320" y="23225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0" y="2788920"/>
            <a:ext cx="283464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2788920"/>
            <a:ext cx="54864" cy="73152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8254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989320" y="31912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Principais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52160" y="3657600"/>
            <a:ext cx="2834640" cy="731520"/>
          </a:xfrm>
          <a:prstGeom prst="rect">
            <a:avLst/>
          </a:prstGeom>
          <a:solidFill>
            <a:srgbClr val="11224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52160" y="3657600"/>
            <a:ext cx="54864" cy="73152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36941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989320" y="40599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Excepções Custom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Bodoni MT Black" panose="02070A03080606020203" pitchFamily="18" charset="0"/>
                <a:ea typeface="Calibri" pitchFamily="34" charset="-122"/>
                <a:cs typeface="Calibri" pitchFamily="34" charset="-120"/>
              </a:rPr>
              <a:t>DIAGRAMA DE CLASSES UML</a:t>
            </a:r>
            <a:endParaRPr lang="en-US" sz="2600" dirty="0">
              <a:latin typeface="Bodoni MT Black" panose="02070A030806060202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com StarUML — Arquitectura orientada a objectos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920240" cy="1444752"/>
          </a:xfrm>
          <a:prstGeom prst="rect">
            <a:avLst/>
          </a:prstGeom>
          <a:solidFill>
            <a:srgbClr val="112240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1920240" cy="347472"/>
          </a:xfrm>
          <a:prstGeom prst="rect">
            <a:avLst/>
          </a:prstGeom>
          <a:solidFill>
            <a:srgbClr val="00A8E8">
              <a:alpha val="80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" y="1371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-id: int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9184" y="1572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-nome: string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9184" y="17739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-email: string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9184" y="1975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-telefone: string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176272"/>
            <a:ext cx="1920240" cy="0"/>
          </a:xfrm>
          <a:prstGeom prst="line">
            <a:avLst/>
          </a:prstGeom>
          <a:noFill/>
          <a:ln w="12700">
            <a:solidFill>
              <a:srgbClr val="00A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21854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+FazerReserva()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377440" y="1005840"/>
            <a:ext cx="1920240" cy="1645920"/>
          </a:xfrm>
          <a:prstGeom prst="rect">
            <a:avLst/>
          </a:prstGeom>
          <a:solidFill>
            <a:srgbClr val="11224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1005840"/>
            <a:ext cx="1920240" cy="347472"/>
          </a:xfrm>
          <a:prstGeom prst="rect">
            <a:avLst/>
          </a:prstGeom>
          <a:solidFill>
            <a:srgbClr val="FFB703">
              <a:alpha val="8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0" y="1005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32304" y="1371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-idReserva: int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432304" y="1572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-dataEntrada: datetime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432304" y="17739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-dataSaida: datetime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432304" y="1975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-estado: string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377440" y="2176272"/>
            <a:ext cx="1920240" cy="0"/>
          </a:xfrm>
          <a:prstGeom prst="line">
            <a:avLst/>
          </a:prstGeom>
          <a:noFill/>
          <a:ln w="12700">
            <a:solidFill>
              <a:srgbClr val="FFB70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32304" y="21854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+Confirmar()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432304" y="23865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+Cancelar()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480560" y="1005840"/>
            <a:ext cx="1920240" cy="164592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1005840"/>
            <a:ext cx="1920240" cy="347472"/>
          </a:xfrm>
          <a:prstGeom prst="rect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1005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35424" y="1371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-numero: int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35424" y="1572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-tipo: string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35424" y="17739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-preco: double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35424" y="1975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-disponibilidade: bool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480560" y="2176272"/>
            <a:ext cx="1920240" cy="0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35424" y="21854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+Ocupar()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35424" y="23865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+Liberar()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583680" y="1005840"/>
            <a:ext cx="2286000" cy="1243584"/>
          </a:xfrm>
          <a:prstGeom prst="rect">
            <a:avLst/>
          </a:prstGeom>
          <a:solidFill>
            <a:srgbClr val="112240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0" y="1005840"/>
            <a:ext cx="2286000" cy="347472"/>
          </a:xfrm>
          <a:prstGeom prst="rect">
            <a:avLst/>
          </a:prstGeom>
          <a:solidFill>
            <a:srgbClr val="0077B6">
              <a:alpha val="8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1005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Estadia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38544" y="13716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-dataCheck_In: datetime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638544" y="15727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-dataCheck_Out: datetime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638544" y="17739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-dias: int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583680" y="1975104"/>
            <a:ext cx="2286000" cy="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38544" y="19842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+CalcularTotal()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00400" y="3291840"/>
            <a:ext cx="2743200" cy="1645920"/>
          </a:xfrm>
          <a:prstGeom prst="rect">
            <a:avLst/>
          </a:prstGeom>
          <a:solidFill>
            <a:srgbClr val="112240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0" y="3291840"/>
            <a:ext cx="2743200" cy="347472"/>
          </a:xfrm>
          <a:prstGeom prst="rect">
            <a:avLst/>
          </a:prstGeom>
          <a:solidFill>
            <a:srgbClr val="F72585">
              <a:alpha val="80000"/>
            </a:srgbClr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0" y="3291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GestorHotel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55264" y="365760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-reservas: list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255264" y="38587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-quartos: list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200400" y="4059936"/>
            <a:ext cx="2743200" cy="0"/>
          </a:xfrm>
          <a:prstGeom prst="line">
            <a:avLst/>
          </a:prstGeom>
          <a:noFill/>
          <a:ln w="12700">
            <a:solidFill>
              <a:srgbClr val="F7258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55264" y="40690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+AdicionarReserva()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255264" y="42702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+AdicionarQuarto()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255264" y="447141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+ListarReservas()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255264" y="467258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+ListarQuartos()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583680" y="3291840"/>
            <a:ext cx="2286000" cy="1243584"/>
          </a:xfrm>
          <a:prstGeom prst="rect">
            <a:avLst/>
          </a:prstGeom>
          <a:solidFill>
            <a:srgbClr val="112240"/>
          </a:solidFill>
          <a:ln w="12700">
            <a:solidFill>
              <a:srgbClr val="7B9EC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83680" y="3291840"/>
            <a:ext cx="2286000" cy="347472"/>
          </a:xfrm>
          <a:prstGeom prst="rect">
            <a:avLst/>
          </a:prstGeom>
          <a:solidFill>
            <a:srgbClr val="7B9EC5">
              <a:alpha val="80000"/>
            </a:srgbClr>
          </a:solidFill>
          <a:ln w="12700">
            <a:solidFill>
              <a:srgbClr val="7B9EC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0" y="32918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638544" y="36576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-numero: int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638544" y="38587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-valor: double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638544" y="40599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-dataEmissao: datetime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583680" y="4261104"/>
            <a:ext cx="2286000" cy="0"/>
          </a:xfrm>
          <a:prstGeom prst="line">
            <a:avLst/>
          </a:prstGeom>
          <a:noFill/>
          <a:ln w="12700">
            <a:solidFill>
              <a:srgbClr val="7B9EC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38544" y="42702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+GerarFactura()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194560" y="1691640"/>
            <a:ext cx="182880" cy="0"/>
          </a:xfrm>
          <a:prstGeom prst="line">
            <a:avLst/>
          </a:prstGeom>
          <a:noFill/>
          <a:ln w="12700">
            <a:solidFill>
              <a:srgbClr val="7B9EC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297680" y="1920240"/>
            <a:ext cx="182880" cy="0"/>
          </a:xfrm>
          <a:prstGeom prst="line">
            <a:avLst/>
          </a:prstGeom>
          <a:noFill/>
          <a:ln w="12700">
            <a:solidFill>
              <a:srgbClr val="7B9EC5"/>
            </a:solidFill>
            <a:prstDash val="solid"/>
          </a:ln>
        </p:spPr>
      </p:sp>
      <p:pic>
        <p:nvPicPr>
          <p:cNvPr id="62" name="Imagem 61">
            <a:extLst>
              <a:ext uri="{FF2B5EF4-FFF2-40B4-BE49-F238E27FC236}">
                <a16:creationId xmlns:a16="http://schemas.microsoft.com/office/drawing/2014/main" id="{D0D53E37-1340-4BAA-A023-B8A4E5DA4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1005841"/>
            <a:ext cx="8846703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Bodoni MT Black" panose="02070A03080606020203" pitchFamily="18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2800" dirty="0">
              <a:latin typeface="Bodoni MT Black" panose="02070A030806060202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implementados no sistema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74320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2743200" cy="5486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4128" y="11612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Clientes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5544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 completo com nome, BI, email e telefone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74320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051560"/>
            <a:ext cx="274320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188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🚪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50208" y="11612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Quartos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50208" y="15544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quartos com tipos, preços e disponibilidade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051560"/>
            <a:ext cx="274320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051560"/>
            <a:ext cx="27432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1887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76288" y="11612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Realização de Reservas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76288" y="15544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Confirmação, cancelamento e datas de estadia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560320"/>
            <a:ext cx="274320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560320"/>
            <a:ext cx="2743200" cy="54864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697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24128" y="26700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Check-Out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4128" y="3063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 de entrada e saída com facturação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91840" y="2560320"/>
            <a:ext cx="274320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2560320"/>
            <a:ext cx="2743200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2697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950208" y="26700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Disponibilidade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50208" y="3063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Listagem em tempo real dos quartos livres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2560320"/>
            <a:ext cx="2743200" cy="1280160"/>
          </a:xfrm>
          <a:prstGeom prst="rect">
            <a:avLst/>
          </a:prstGeom>
          <a:solidFill>
            <a:srgbClr val="112240"/>
          </a:solidFill>
          <a:ln w="12700">
            <a:solidFill>
              <a:srgbClr val="7B9EC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2560320"/>
            <a:ext cx="2743200" cy="54864"/>
          </a:xfrm>
          <a:prstGeom prst="rect">
            <a:avLst/>
          </a:prstGeom>
          <a:solidFill>
            <a:srgbClr val="7B9EC5"/>
          </a:solidFill>
          <a:ln w="12700">
            <a:solidFill>
              <a:srgbClr val="7B9E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2697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876288" y="26700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Excepções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76288" y="3063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excepções personalizadas para erros críticos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29508" y="3931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22031" y="38017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implementados no sistema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26700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Check-Out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9727" y="11723"/>
            <a:ext cx="9034273" cy="51435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" y="12661"/>
            <a:ext cx="9034272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65A3DD3C-2B8E-4112-9A42-5F28A1D45299}"/>
              </a:ext>
            </a:extLst>
          </p:cNvPr>
          <p:cNvSpPr/>
          <p:nvPr/>
        </p:nvSpPr>
        <p:spPr>
          <a:xfrm>
            <a:off x="170571" y="1562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3968AB48-7FB3-4032-95CD-870D4C359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61"/>
            <a:ext cx="9144000" cy="497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060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29508" y="3931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22031" y="38017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implementados no sistema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4128" y="26700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Check-Out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9727" y="11723"/>
            <a:ext cx="9034273" cy="51435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" y="12661"/>
            <a:ext cx="9034272" cy="54864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65A3DD3C-2B8E-4112-9A42-5F28A1D45299}"/>
              </a:ext>
            </a:extLst>
          </p:cNvPr>
          <p:cNvSpPr/>
          <p:nvPr/>
        </p:nvSpPr>
        <p:spPr>
          <a:xfrm>
            <a:off x="170571" y="1562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1354855A-AD7C-4156-BC3F-B7E14AAC1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" y="81710"/>
            <a:ext cx="4103852" cy="5061790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5D7A73AC-87D4-4335-80D2-6D8596F78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539" y="130719"/>
            <a:ext cx="4759568" cy="500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42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SISTEMA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 componentes da arquitectura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51760" cy="18288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2651760" cy="384048"/>
          </a:xfrm>
          <a:prstGeom prst="rect">
            <a:avLst/>
          </a:prstGeom>
          <a:solidFill>
            <a:srgbClr val="00A8E8">
              <a:alpha val="75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69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Modelos (Models)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88" y="15087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Cliente — dados do hóspede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7647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Quarto — dados do alojamento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02082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Reserva — controlo de marcações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27685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Estadia — período de permanência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5328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Factura — geração de cobranças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2651760" cy="804672"/>
          </a:xfrm>
          <a:prstGeom prst="rect">
            <a:avLst/>
          </a:prstGeom>
          <a:solidFill>
            <a:srgbClr val="11224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051560"/>
            <a:ext cx="2651760" cy="384048"/>
          </a:xfrm>
          <a:prstGeom prst="rect">
            <a:avLst/>
          </a:prstGeom>
          <a:solidFill>
            <a:srgbClr val="FFB703">
              <a:alpha val="7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0698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Serviços (Services)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55848" y="150876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GestorHotel — coordena todas as operações entre clientes, quartos e reservas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2514600"/>
            <a:ext cx="2651760" cy="1060704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2514600"/>
            <a:ext cx="2651760" cy="384048"/>
          </a:xfrm>
          <a:prstGeom prst="rect">
            <a:avLst/>
          </a:prstGeom>
          <a:solidFill>
            <a:srgbClr val="06D6A0">
              <a:alpha val="7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253288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Enumerações (Enums)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55848" y="29718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TipoQuarto — Individual, Duplo, Suite, Familiar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55848" y="32278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EstadoReserva — Activa, Concluída, Cancelada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051560"/>
            <a:ext cx="2743200" cy="1316736"/>
          </a:xfrm>
          <a:prstGeom prst="rect">
            <a:avLst/>
          </a:prstGeom>
          <a:solidFill>
            <a:srgbClr val="112240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1051560"/>
            <a:ext cx="2743200" cy="384048"/>
          </a:xfrm>
          <a:prstGeom prst="rect">
            <a:avLst/>
          </a:prstGeom>
          <a:solidFill>
            <a:srgbClr val="F72585">
              <a:alpha val="75000"/>
            </a:srgbClr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10698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Excepções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36208" y="15087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DataInvalidaException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36208" y="17647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QuartoIndisponivelException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36208" y="20208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ReservaNaoEncontradaException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Bodoni MT Black" panose="02070A03080606020203" pitchFamily="18" charset="0"/>
                <a:ea typeface="Calibri" pitchFamily="34" charset="-122"/>
                <a:cs typeface="Calibri" pitchFamily="34" charset="-120"/>
              </a:rPr>
              <a:t>BENEFÍCIOS DO SISTEMA</a:t>
            </a:r>
            <a:endParaRPr lang="en-US" sz="2800" dirty="0">
              <a:latin typeface="Bodoni MT Black" panose="02070A030806060202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 obtidas com a implementação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33856"/>
            <a:ext cx="438912" cy="438912"/>
          </a:xfrm>
          <a:prstGeom prst="ellipse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338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188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Rapidez —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26080" y="11887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acelerado com menus interactivos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09928"/>
            <a:ext cx="8229600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46504"/>
            <a:ext cx="438912" cy="438912"/>
          </a:xfrm>
          <a:prstGeom prst="ellipse">
            <a:avLst/>
          </a:prstGeom>
          <a:solidFill>
            <a:srgbClr val="06D6A0">
              <a:alpha val="7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46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1801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Organização 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26080" y="180136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estruturados e acessíveis a qualquer momento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322576"/>
            <a:ext cx="8229600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359152"/>
            <a:ext cx="438912" cy="438912"/>
          </a:xfrm>
          <a:prstGeom prst="ellipse">
            <a:avLst/>
          </a:prstGeom>
          <a:solidFill>
            <a:srgbClr val="00A8E8">
              <a:alpha val="70000"/>
            </a:srgbClr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59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🛡️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24140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Erros —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926080" y="241401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Validações automáticas e excepções personalizadas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935224"/>
            <a:ext cx="8229600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971800"/>
            <a:ext cx="438912" cy="438912"/>
          </a:xfrm>
          <a:prstGeom prst="ellipse">
            <a:avLst/>
          </a:prstGeom>
          <a:solidFill>
            <a:srgbClr val="F72585">
              <a:alpha val="70000"/>
            </a:srgbClr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302666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Controlo Total —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926080" y="302666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completa de reservas, estadias e quartos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547872"/>
            <a:ext cx="8229600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584448"/>
            <a:ext cx="438912" cy="438912"/>
          </a:xfrm>
          <a:prstGeom prst="ellipse">
            <a:avLst/>
          </a:prstGeom>
          <a:solidFill>
            <a:srgbClr val="0077B6">
              <a:alpha val="7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584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3639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Manutenção —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926080" y="363931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modular seguindo princípios POO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197096"/>
            <a:ext cx="438912" cy="438912"/>
          </a:xfrm>
          <a:prstGeom prst="ellipse">
            <a:avLst/>
          </a:prstGeom>
          <a:solidFill>
            <a:srgbClr val="7B9EC5">
              <a:alpha val="70000"/>
            </a:srgbClr>
          </a:solidFill>
          <a:ln w="12700">
            <a:solidFill>
              <a:srgbClr val="7B9E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197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05840" y="4251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Escalável —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2926080" y="42519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 BD, GUI e reservas online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500" dirty="0">
                <a:solidFill>
                  <a:srgbClr val="FFFFFF"/>
                </a:solidFill>
                <a:latin typeface="Bodoni MT Black" panose="02070A03080606020203" pitchFamily="18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3600" dirty="0">
              <a:latin typeface="Bodoni MT Black" panose="02070A03080606020203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371600" y="1051560"/>
            <a:ext cx="6400800" cy="3657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88720"/>
            <a:ext cx="7315200" cy="256032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desenvolvimento do Sistema de Gestão de Hotel permitiu aplicar na prática os fundamentos de POO na construção de uma solução robusta e funcional.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modular garante maior eficiência na gestão hoteleira e abre caminho para futuras melhorias: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• Integração com bases de dados relacionais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• Interface gráfica (GUI) com Windows Forms ou WPF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• Sistema online de reservas e relatórios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3749040"/>
            <a:ext cx="6400800" cy="36576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886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Sistema de Gestão de Hotel — 5 Estrelas  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9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Kimpavita · 3º Ano · Uige, Maio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877</Words>
  <Application>Microsoft Office PowerPoint</Application>
  <PresentationFormat>Apresentação no Ecrã (16:9)</PresentationFormat>
  <Paragraphs>198</Paragraphs>
  <Slides>12</Slides>
  <Notes>12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6" baseType="lpstr">
      <vt:lpstr>Arial</vt:lpstr>
      <vt:lpstr>Bodoni MT Black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Gestão de Hotel</dc:title>
  <dc:subject>PptxGenJS Presentation</dc:subject>
  <dc:creator>PptxGenJS</dc:creator>
  <cp:lastModifiedBy>Nguinamau Vita</cp:lastModifiedBy>
  <cp:revision>3</cp:revision>
  <dcterms:created xsi:type="dcterms:W3CDTF">2026-05-29T10:52:38Z</dcterms:created>
  <dcterms:modified xsi:type="dcterms:W3CDTF">2026-06-03T10:06:22Z</dcterms:modified>
</cp:coreProperties>
</file>